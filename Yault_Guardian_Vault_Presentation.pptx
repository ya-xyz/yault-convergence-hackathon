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Yault Guardian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Calibri"/>
              </a:defRPr>
            </a:pPr>
            <a:r>
              <a:t>Self-Custodial Inheritance &amp; Conditional Asset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CE"/>
                </a:solidFill>
                <a:latin typeface="Calibri"/>
              </a:defRPr>
            </a:pPr>
            <a:r>
              <a:t>with auditable yield sharing, powered by Chainlink CRE attestations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2926080" cy="548640"/>
          </a:xfrm>
          <a:prstGeom prst="roundRect">
            <a:avLst>
              <a:gd name="adj" fmla="val 15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309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DeFi &amp; Tokenization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303520"/>
            <a:ext cx="2560320" cy="54864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3309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 &amp;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858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3"/>
                </a:solidFill>
                <a:latin typeface="Calibri"/>
              </a:defRPr>
            </a:pPr>
            <a:r>
              <a:t>Convergence: A Chainlink Hackathon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CE"/>
                </a:solidFill>
                <a:latin typeface="Calibri"/>
              </a:defRPr>
            </a:pPr>
            <a:r>
              <a:t>Crypto inheritance &amp; conditional release systems face a trilemma: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3840480" cy="3200400"/>
          </a:xfrm>
          <a:prstGeom prst="roundRect">
            <a:avLst>
              <a:gd name="adj" fmla="val 5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3840480" cy="54864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Custodial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97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Calibri"/>
              </a:defRPr>
            </a:pPr>
            <a:r>
              <a:t>Traditional solutions require handing</a:t>
            </a:r>
            <a:br/>
            <a:r>
              <a:t>keys to a third party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560320"/>
            <a:ext cx="3840480" cy="3200400"/>
          </a:xfrm>
          <a:prstGeom prst="roundRect">
            <a:avLst>
              <a:gd name="adj" fmla="val 5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2560320"/>
            <a:ext cx="3840480" cy="54864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Weak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297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Calibri"/>
              </a:defRPr>
            </a:pPr>
            <a:r>
              <a:t>Purely social or legal mechanisms</a:t>
            </a:r>
            <a:br/>
            <a:r>
              <a:t>have no on-chain teeth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59" y="2560320"/>
            <a:ext cx="3840480" cy="3200400"/>
          </a:xfrm>
          <a:prstGeom prst="roundRect">
            <a:avLst>
              <a:gd name="adj" fmla="val 5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59" y="2560320"/>
            <a:ext cx="3840480" cy="54864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19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3657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No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19" y="42976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CE"/>
                </a:solidFill>
                <a:latin typeface="Calibri"/>
              </a:defRPr>
            </a:pPr>
            <a:r>
              <a:t>Release decisions are opaque and</a:t>
            </a:r>
            <a:br/>
            <a:r>
              <a:t>hard to verify after the 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5836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Result: $68B+ in crypto is estimated to be inaccessible due to lost keys, death, or custody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Approach: Zero-Custody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No single party — not the platform, not the authority, not the recipient — can unilaterally access assets.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73152" cy="5029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Asset Custody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31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Owner's wallet — keys never leave the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44368"/>
            <a:ext cx="73152" cy="5029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990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900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AES-256-GCM-SIV + Argon2id (ACE-GF framework)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02736"/>
            <a:ext cx="73152" cy="502920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484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Conditional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6484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Shamir Secret Sharing — authority holds a share, not a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61104"/>
            <a:ext cx="73152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3068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Timelock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068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drand BLS threshold IBE (tlock)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919472"/>
            <a:ext cx="73152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965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Attestation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Chainlink CRE workflow → on-chain ReleaseAttestation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577840"/>
            <a:ext cx="73152" cy="5029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Yield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23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ERC-4626 vault with auditable user/platform/authority split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6236208"/>
            <a:ext cx="73152" cy="5029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6281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Permanent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6281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Arweave for encrypted release artifacts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Chainlink CRE Is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114800" cy="53035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1148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1. CRE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56032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Consolas"/>
              </a:defRPr>
            </a:pPr>
            <a:r>
              <a:t>oracle/workflow/src/main.ts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HTTP + Cron dual trigger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Polls platform API for pending attestation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Retry logic (3x exponential backoff)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532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Encodes &amp; submits via CRE EVM 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645920"/>
            <a:ext cx="4114800" cy="53035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1645920"/>
            <a:ext cx="4114800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2. On-Chain Attestation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256032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Consolas"/>
              </a:defRPr>
            </a:pPr>
            <a:r>
              <a:t>contracts/src/ReleaseAttestation.sol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Immutable attestation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977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Oracle source (source=0) + Fallback (source=1)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keccak256 wallet ID for 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532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Events emitted for platform consumption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45920"/>
            <a:ext cx="4114800" cy="53035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1645920"/>
            <a:ext cx="4114800" cy="54864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3. Trigger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256032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Consolas"/>
              </a:defRPr>
            </a:pPr>
            <a:r>
              <a:t>server/api/trigger/oracle.js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32004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Reads on-chain attestation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977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Creates cooldown-gated triggers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7548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Separates event source from policy 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5532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Authority verification before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End-to-End Release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011680" cy="41148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2286000"/>
            <a:ext cx="640080" cy="64008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Configure recipient</a:t>
            </a:r>
            <a:br/>
            <a:r>
              <a:t>paths &amp; deposit</a:t>
            </a:r>
            <a:br/>
            <a:r>
              <a:t>to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B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2011680" cy="41148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2286000"/>
            <a:ext cx="640080" cy="640080"/>
          </a:xfrm>
          <a:prstGeom prst="ellipse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5BD2"/>
                </a:solidFill>
                <a:latin typeface="Calibri"/>
              </a:defRPr>
            </a:pPr>
            <a:r>
              <a:t>Chainlink CRE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576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Oracle workflow</a:t>
            </a:r>
            <a:br/>
            <a:r>
              <a:t>writes attestation</a:t>
            </a:r>
            <a:br/>
            <a:r>
              <a:t>on-chain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B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011680"/>
            <a:ext cx="2011680" cy="41148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22860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6576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Read attestation</a:t>
            </a:r>
            <a:br/>
            <a:r>
              <a:t>event → create</a:t>
            </a:r>
            <a:br/>
            <a:r>
              <a:t>cooldown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B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011680"/>
            <a:ext cx="2011680" cy="41148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0" y="22860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576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Verify conditions</a:t>
            </a:r>
            <a:br/>
            <a:r>
              <a:t>&amp; submit release</a:t>
            </a:r>
            <a:br/>
            <a:r>
              <a:t>factors (Shamir)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B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2011680"/>
            <a:ext cx="2011680" cy="41148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0" y="228600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Recipient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6576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Combine factors</a:t>
            </a:r>
            <a:br/>
            <a:r>
              <a:t>&amp; claim released</a:t>
            </a:r>
            <a:br/>
            <a:r>
              <a:t>assets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B9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978640" y="2011680"/>
            <a:ext cx="2011680" cy="41148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618720" y="2286000"/>
            <a:ext cx="640080" cy="64008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61872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1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0" y="3657600"/>
            <a:ext cx="164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Yield split</a:t>
            </a:r>
            <a:br/>
            <a:r>
              <a:t>records visible</a:t>
            </a:r>
            <a:br/>
            <a:r>
              <a:t>for all parties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6583680"/>
            <a:ext cx="12344400" cy="731520"/>
          </a:xfrm>
          <a:prstGeom prst="roundRect">
            <a:avLst>
              <a:gd name="adj" fmla="val 5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97280" y="6583680"/>
            <a:ext cx="73152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66751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Key: No single party can unilaterally access or move assets at any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Smart Contracts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On-Chain Contracts (Solidity 0.8.28)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6400800" cy="86868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848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onsolas"/>
              </a:defRPr>
            </a:pPr>
            <a:r>
              <a:t>YaultVault.sol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Calibri"/>
              </a:defRPr>
            </a:pPr>
            <a:r>
              <a:t>ERC-4626 yield vault with 3-way revenue split</a:t>
            </a:r>
            <a:br/>
            <a:r>
              <a:t>(User 75% · Platform 20% · Authority 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6400800" cy="86868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906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onsolas"/>
              </a:defRPr>
            </a:pPr>
            <a:r>
              <a:t>YaultVaultFactory.sol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Calibri"/>
              </a:defRPr>
            </a:pPr>
            <a:r>
              <a:t>Factory pattern for per-asset vault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023360"/>
            <a:ext cx="6400800" cy="86868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965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onsolas"/>
              </a:defRPr>
            </a:pPr>
            <a:r>
              <a:t>ReleaseAttestation.sol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Calibri"/>
              </a:defRPr>
            </a:pPr>
            <a:r>
              <a:t>Immutable on-chain attestation record</a:t>
            </a:r>
            <a:br/>
            <a:r>
              <a:t>(Oracle source + Fallback submitter)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29200"/>
            <a:ext cx="6400800" cy="86868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1023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onsolas"/>
              </a:defRPr>
            </a:pPr>
            <a:r>
              <a:t>YaultPathClaim.sol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Calibri"/>
              </a:defRPr>
            </a:pPr>
            <a:r>
              <a:t>Path-based asset claim with hash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6035040"/>
            <a:ext cx="6400800" cy="86868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61081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onsolas"/>
              </a:defRPr>
            </a:pPr>
            <a:r>
              <a:t>VaultShareEscrow.sol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4008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Calibri"/>
              </a:defRPr>
            </a:pPr>
            <a:r>
              <a:t>Escrow for ERC-4626 shares pending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Smart Contracts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Solidity · Foundry · OpenZeppelin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2578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Node.js · Express · sql.js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455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Cryptography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31455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Rust/WASM · X25519 · AES-GCM-SIV · Shamir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124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Oracle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37124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Chainlink CRE (TypeScript)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279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42793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Arweave · 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Timelock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drand network · tlock-js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4132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54132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Vanilla JS · Web3 wallet connect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9801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59801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Foundry · Jest · Cargo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5471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471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Calibri"/>
              </a:defRPr>
            </a:pPr>
            <a:r>
              <a:t>Ethereum Sepolia · Tenderly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6949440"/>
            <a:ext cx="5486400" cy="457200"/>
          </a:xfrm>
          <a:prstGeom prst="roundRect">
            <a:avLst>
              <a:gd name="adj" fmla="val 1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6976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  <a:latin typeface="Calibri"/>
              </a:defRPr>
            </a:pPr>
            <a:r>
              <a:t>✓  All contracts deployed &amp; verified on Sepolia + Tenderly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Cryptographic 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FF"/>
                </a:solidFill>
                <a:latin typeface="Calibri"/>
              </a:defRPr>
            </a:pPr>
            <a:r>
              <a:t>Authorities are equivalent to drand BLS signing nodes — they hold a protocol share with zero standalone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12344400" cy="9601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73152" cy="960120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5BD2"/>
                </a:solidFill>
                <a:latin typeface="Calibri"/>
              </a:defRPr>
            </a:pPr>
            <a:r>
              <a:t>ACE-GF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3774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AES-256-GCM-SIV encryption with Argon2id key derivation.</a:t>
            </a:r>
            <a:br/>
            <a:r>
              <a:t>Admin factors encrypted per-authority with unique salt.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83280"/>
            <a:ext cx="12344400" cy="9601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383280"/>
            <a:ext cx="73152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Shamir Secret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4747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Key split into N shares with threshold T.</a:t>
            </a:r>
            <a:br/>
            <a:r>
              <a:t>No single share reveals anything about the original key.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480560"/>
            <a:ext cx="12344400" cy="9601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480560"/>
            <a:ext cx="73152" cy="9601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alibri"/>
              </a:defRPr>
            </a:pPr>
            <a:r>
              <a:t>End-to-End 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5720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X25519 key agreement + ChaCha20-Poly1305 for</a:t>
            </a:r>
            <a:br/>
            <a:r>
              <a:t>authority ↔ recipient communication. Platform sees nothing.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577840"/>
            <a:ext cx="12344400" cy="9601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5577840"/>
            <a:ext cx="73152" cy="9601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Timelock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669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drand network BLS-IBE (tlock): if authority is unavailable,</a:t>
            </a:r>
            <a:br/>
            <a:r>
              <a:t>shares auto-decrypt after pre-set time. No trusted party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6675120"/>
            <a:ext cx="12344400" cy="9601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6675120"/>
            <a:ext cx="73152" cy="9601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6766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Calibri"/>
              </a:defRPr>
            </a:pPr>
            <a:r>
              <a:t>On-Chain Attestation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67665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Chainlink oracle writes immutable attestation.</a:t>
            </a:r>
            <a:br/>
            <a:r>
              <a:t>Cooldown period prevents premature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ERC-4626 Yield Vault &amp; Revenue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CE"/>
                </a:solidFill>
                <a:latin typeface="Calibri"/>
              </a:defRPr>
            </a:pPr>
            <a:r>
              <a:t>Assets in the vault earn yield while waiting for release — split transparently among all participants.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7315200" cy="914400"/>
          </a:xfrm>
          <a:prstGeom prst="roundRect">
            <a:avLst>
              <a:gd name="adj" fmla="val 3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063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77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Calibri"/>
              </a:defRPr>
            </a:pPr>
            <a:r>
              <a:t>User (Vault Depositor)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926080"/>
            <a:ext cx="1920240" cy="91440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30632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977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Calibri"/>
              </a:defRPr>
            </a:pPr>
            <a:r>
              <a:t>Platform (Yault)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07040" y="2926080"/>
            <a:ext cx="502920" cy="914400"/>
          </a:xfrm>
          <a:prstGeom prst="roundRect">
            <a:avLst>
              <a:gd name="adj" fmla="val 3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30632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977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Calibri"/>
              </a:defRPr>
            </a:pPr>
            <a:r>
              <a:t>Authority (Witness)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2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✓  ERC-4626 compliant — composable with any DeFi yield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✓  Per-asset vaults via factory pattern — USDC, WETH, etc.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21792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✓  Yield accrues during cooldown period — no idle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67512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✓  Authority incentivized to participate via 5%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713232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Calibri"/>
              </a:defRPr>
            </a:pPr>
            <a:r>
              <a:t>✓  All splits on-chain and auditable in vault accounting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Landscape: Why Existing Solutions Fall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931920" cy="59436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1097280" cy="59436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1887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Self-</a:t>
            </a:r>
            <a:br/>
            <a:r>
              <a:t>Custody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1097280" cy="59436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1887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188720"/>
            <a:ext cx="1097280" cy="59436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1887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Auto</a:t>
            </a:r>
            <a:br/>
            <a:r>
              <a:t>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1097280" cy="59436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1887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 Trust</a:t>
            </a:r>
            <a:br/>
            <a:r>
              <a:t>Dep.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188720"/>
            <a:ext cx="1097280" cy="59436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18872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Revoc-</a:t>
            </a:r>
            <a:br/>
            <a:r>
              <a:t>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1188720"/>
            <a:ext cx="3474720" cy="594360"/>
          </a:xfrm>
          <a:prstGeom prst="roundRect">
            <a:avLst>
              <a:gd name="adj" fmla="val 3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Main Weakness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874519"/>
            <a:ext cx="13990320" cy="640080"/>
          </a:xfrm>
          <a:prstGeom prst="roundRect">
            <a:avLst>
              <a:gd name="adj" fmla="val 2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1892807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Centralized Custodial</a:t>
            </a:r>
            <a:br/>
            <a:r>
              <a:t>Inheritance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94767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94767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94767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4767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94767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3072" y="1892807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Platform risk; policy changes;</a:t>
            </a:r>
            <a:br/>
            <a:r>
              <a:t>not self-custody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532887"/>
            <a:ext cx="13990320" cy="6400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551175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Legal / Trust</a:t>
            </a:r>
            <a:br/>
            <a:r>
              <a:t>Custody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606039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606039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606039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606039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606039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63072" y="2551175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Single point of trust;</a:t>
            </a:r>
            <a:br/>
            <a:r>
              <a:t>key exposure; slow; expensive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191256"/>
            <a:ext cx="13990320" cy="640080"/>
          </a:xfrm>
          <a:prstGeom prst="roundRect">
            <a:avLst>
              <a:gd name="adj" fmla="val 2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209544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Multi-Sig</a:t>
            </a:r>
            <a:br/>
            <a:r>
              <a:t>Inheritance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26440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26440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26440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26440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26440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63072" y="320954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Coordination burden;</a:t>
            </a:r>
            <a:br/>
            <a:r>
              <a:t>signer collusion; no yield mgmt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849624"/>
            <a:ext cx="13990320" cy="6400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867912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MPC</a:t>
            </a:r>
            <a:br/>
            <a:r>
              <a:t>Custody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9227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9227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9227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9227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39227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63072" y="386791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High cost; service disruption;</a:t>
            </a:r>
            <a:br/>
            <a:r>
              <a:t>still centralized nodes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4507992"/>
            <a:ext cx="13990320" cy="640080"/>
          </a:xfrm>
          <a:prstGeom prst="roundRect">
            <a:avLst>
              <a:gd name="adj" fmla="val 2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526280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Dead Man's</a:t>
            </a:r>
            <a:br/>
            <a:r>
              <a:t>Switch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458114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58114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58114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58114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458114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63072" y="45262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Time ≠ death; irreversible</a:t>
            </a:r>
            <a:br/>
            <a:r>
              <a:t>misfire; can't manage DeFi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166359"/>
            <a:ext cx="13990320" cy="64008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5184647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Social</a:t>
            </a:r>
            <a:br/>
            <a:r>
              <a:t>Recovery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523951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523951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523951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523951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5239511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63072" y="5184647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Collusion risk; not true</a:t>
            </a:r>
            <a:br/>
            <a:r>
              <a:t>inheritance; no yield handoff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824728"/>
            <a:ext cx="13990320" cy="640080"/>
          </a:xfrm>
          <a:prstGeom prst="roundRect">
            <a:avLst>
              <a:gd name="adj" fmla="val 2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472" y="5843016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DeFi Vaults</a:t>
            </a:r>
            <a:br/>
            <a:r>
              <a:t>(non-inheritance)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589788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0" y="589788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9440" y="589788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556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589788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589788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63072" y="584301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93"/>
                </a:solidFill>
                <a:latin typeface="Calibri"/>
              </a:defRPr>
            </a:pPr>
            <a:r>
              <a:t>No inheritance logic;</a:t>
            </a:r>
            <a:br/>
            <a:r>
              <a:t>liquidation risk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6556248"/>
            <a:ext cx="13990320" cy="704088"/>
          </a:xfrm>
          <a:prstGeom prst="roundRect">
            <a:avLst>
              <a:gd name="adj" fmla="val 2000"/>
            </a:avLst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" y="6592824"/>
            <a:ext cx="3840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Yault Guardian</a:t>
            </a:r>
            <a:br/>
            <a:r>
              <a:t>Vault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20" y="664768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0" y="664768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664768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664768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09760" y="664768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63072" y="65928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Calibri"/>
              </a:defRPr>
            </a:pPr>
            <a:r>
              <a:t>Hackathon build;</a:t>
            </a:r>
            <a:br/>
            <a:r>
              <a:t>requires production audit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7498079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93"/>
                </a:solidFill>
                <a:latin typeface="Calibri"/>
              </a:defRPr>
            </a:pPr>
            <a:r>
              <a:t>✓ = fully supported      ~ = partial / depends      — = not supported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77724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Yault is the only approach combining self-custody, native yield, oracle-driven triggers, low trust dependency, and revocability.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75BD2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  <a:br/>
            <a:r>
              <a:t>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API + flow tests</a:t>
            </a:r>
            <a:br/>
            <a:r>
              <a:t>(Jest + Supertest)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Unit</a:t>
            </a:r>
            <a:br/>
            <a: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66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Module-level tests</a:t>
            </a:r>
            <a:br/>
            <a:r>
              <a:t>(Jest)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3736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Contract</a:t>
            </a:r>
            <a:br/>
            <a: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66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Solidity tests</a:t>
            </a:r>
            <a:br/>
            <a:r>
              <a:t>(Foundry/Forge)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64240" y="1737360"/>
            <a:ext cx="3108960" cy="27432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WASM</a:t>
            </a:r>
            <a:br/>
            <a:r>
              <a:t>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35661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Calibri"/>
              </a:defRPr>
            </a:pPr>
            <a:r>
              <a:t>Crypto primitive tests</a:t>
            </a:r>
            <a:br/>
            <a:r>
              <a:t>(Cargo)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12344400" cy="228600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5029200"/>
            <a:ext cx="73152" cy="2286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Internal Security Review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 3 rounds of code review (P0 → P1 → P2 severity levels)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 All P0 critical issues identified and remediated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6583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 Known limitations documented with mitigation strategies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6995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•  Production deployment requires third-party audit (planned post-hackathon)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Calibri"/>
              </a:defRPr>
            </a:pPr>
            <a:r>
              <a:t>Full golden-path walkthrough: Owner → Oracle → Authority → Recipient →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4297680" cy="25603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4297680" cy="54864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93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Owner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Configure recipient path, set conditions,</a:t>
            </a:r>
            <a:br/>
            <a:r>
              <a:t>deposit assets into ERC-4626 vault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286000"/>
            <a:ext cx="4297680" cy="25603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2286000"/>
            <a:ext cx="429768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93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8803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5BD2"/>
                </a:solidFill>
                <a:latin typeface="Calibri"/>
              </a:defRPr>
            </a:pPr>
            <a:r>
              <a:t>CRE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47472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Oracle attests conditions are met →</a:t>
            </a:r>
            <a:br/>
            <a:r>
              <a:t>write ReleaseAttestation on-chain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286000"/>
            <a:ext cx="4297680" cy="25603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2286000"/>
            <a:ext cx="4297680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2514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93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8803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Trigger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47472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Platform reads attestation event →</a:t>
            </a:r>
            <a:br/>
            <a:r>
              <a:t>create trigger with cooldown period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4297680" cy="25603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4297680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93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Authority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4008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Verify conditions → submit Shamir</a:t>
            </a:r>
            <a:br/>
            <a:r>
              <a:t>release factors (authenticated)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5212080"/>
            <a:ext cx="4297680" cy="25603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03520" y="5212080"/>
            <a:ext cx="4297680" cy="54864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93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8064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Recipient Claim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64008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Combine factors → claim vault shares</a:t>
            </a:r>
            <a:br/>
            <a:r>
              <a:t>from escrow → withdraw assets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5212080"/>
            <a:ext cx="4297680" cy="2560320"/>
          </a:xfrm>
          <a:prstGeom prst="roundRect">
            <a:avLst>
              <a:gd name="adj" fmla="val 4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75520" y="5212080"/>
            <a:ext cx="4297680" cy="54864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5440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B93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8064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Audit &amp; Yield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640080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View revenue split records:</a:t>
            </a:r>
            <a:br/>
            <a:r>
              <a:t>75% user · 20% platform · 5% authority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54864"/>
          </a:xfrm>
          <a:prstGeom prst="roundRect">
            <a:avLst/>
          </a:prstGeom>
          <a:solidFill>
            <a:srgbClr val="37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Yault Guardian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FF"/>
                </a:solidFill>
                <a:latin typeface="Calibri"/>
              </a:defRPr>
            </a:pPr>
            <a:r>
              <a:t>Bringing trust-minimized, auditable asset release to crypto inheritance.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CE"/>
                </a:solidFill>
                <a:latin typeface="Calibri"/>
              </a:defRPr>
            </a:pPr>
            <a:r>
              <a:t>✦  Self-custodial — no party holds keys or unilateral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CE"/>
                </a:solidFill>
                <a:latin typeface="Calibri"/>
              </a:defRPr>
            </a:pPr>
            <a:r>
              <a:t>✦  Chainlink CRE attestation — trusted, externalized trigger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CE"/>
                </a:solidFill>
                <a:latin typeface="Calibri"/>
              </a:defRPr>
            </a:pPr>
            <a:r>
              <a:t>✦  Auditable — every decision recorded on-chain + Arweave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CE"/>
                </a:solidFill>
                <a:latin typeface="Calibri"/>
              </a:defRPr>
            </a:pPr>
            <a:r>
              <a:t>✦  Yield-generating — assets earn while waiting for release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035040"/>
            <a:ext cx="11887200" cy="1371600"/>
          </a:xfrm>
          <a:prstGeom prst="roundRect">
            <a:avLst>
              <a:gd name="adj" fmla="val 5000"/>
            </a:avLst>
          </a:prstGeom>
          <a:solidFill>
            <a:srgbClr val="15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93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Calibri"/>
              </a:defRPr>
            </a:pPr>
            <a:r>
              <a:t>github.com/hayekw/yault-convergence-hackathon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583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93"/>
                </a:solidFill>
                <a:latin typeface="Calibri"/>
              </a:defRPr>
            </a:pPr>
            <a:r>
              <a:t>Demo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583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[link to be added]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949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93"/>
                </a:solidFill>
                <a:latin typeface="Calibri"/>
              </a:defRPr>
            </a:pPr>
            <a:r>
              <a:t>Tenderly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949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Calibri"/>
              </a:defRPr>
            </a:pPr>
            <a:r>
              <a:t>[link to be added]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589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3"/>
                </a:solidFill>
                <a:latin typeface="Calibri"/>
              </a:defRPr>
            </a:pPr>
            <a:r>
              <a:t>Thank you — we welcome technical and security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